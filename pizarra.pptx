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26/06/2026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899592" y="2492896"/>
            <a:ext cx="2880320" cy="1656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2 CuadroTexto"/>
          <p:cNvSpPr txBox="1"/>
          <p:nvPr/>
        </p:nvSpPr>
        <p:spPr>
          <a:xfrm>
            <a:off x="1043608" y="2708920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smtClean="0"/>
              <a:t>Lenguaje Java</a:t>
            </a:r>
          </a:p>
          <a:p>
            <a:pPr algn="ctr"/>
            <a:r>
              <a:rPr lang="es-ES" sz="2400" dirty="0" smtClean="0"/>
              <a:t>+</a:t>
            </a:r>
          </a:p>
          <a:p>
            <a:pPr algn="ctr"/>
            <a:r>
              <a:rPr lang="es-ES" sz="2400" dirty="0" smtClean="0"/>
              <a:t>Apis Básicas</a:t>
            </a:r>
            <a:endParaRPr lang="es-ES" sz="2400" dirty="0"/>
          </a:p>
        </p:txBody>
      </p:sp>
      <p:cxnSp>
        <p:nvCxnSpPr>
          <p:cNvPr id="5" name="4 Conector recto de flecha"/>
          <p:cNvCxnSpPr/>
          <p:nvPr/>
        </p:nvCxnSpPr>
        <p:spPr>
          <a:xfrm flipV="1">
            <a:off x="3779912" y="1988840"/>
            <a:ext cx="1800200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>
            <a:off x="3779912" y="3501008"/>
            <a:ext cx="2016224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5796136" y="1556792"/>
            <a:ext cx="2376264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CuadroTexto"/>
          <p:cNvSpPr txBox="1"/>
          <p:nvPr/>
        </p:nvSpPr>
        <p:spPr>
          <a:xfrm>
            <a:off x="6084168" y="1628800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Aplicaciones Java estándar</a:t>
            </a:r>
            <a:endParaRPr lang="es-ES" dirty="0"/>
          </a:p>
        </p:txBody>
      </p:sp>
      <p:sp>
        <p:nvSpPr>
          <p:cNvPr id="10" name="9 Rectángulo"/>
          <p:cNvSpPr/>
          <p:nvPr/>
        </p:nvSpPr>
        <p:spPr>
          <a:xfrm>
            <a:off x="6084168" y="3717032"/>
            <a:ext cx="2664296" cy="2448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CuadroTexto"/>
          <p:cNvSpPr txBox="1"/>
          <p:nvPr/>
        </p:nvSpPr>
        <p:spPr>
          <a:xfrm>
            <a:off x="6372200" y="3789040"/>
            <a:ext cx="21602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Aplicaciones Web</a:t>
            </a:r>
          </a:p>
          <a:p>
            <a:r>
              <a:rPr lang="es-ES" dirty="0" smtClean="0"/>
              <a:t>Java EE</a:t>
            </a:r>
          </a:p>
          <a:p>
            <a:r>
              <a:rPr lang="es-ES" dirty="0" smtClean="0"/>
              <a:t>+</a:t>
            </a:r>
          </a:p>
          <a:p>
            <a:r>
              <a:rPr lang="es-ES" dirty="0" smtClean="0"/>
              <a:t>Spring</a:t>
            </a:r>
          </a:p>
          <a:p>
            <a:r>
              <a:rPr lang="es-ES" dirty="0" smtClean="0"/>
              <a:t>+</a:t>
            </a:r>
          </a:p>
          <a:p>
            <a:r>
              <a:rPr lang="es-ES" dirty="0" smtClean="0"/>
              <a:t>Web </a:t>
            </a:r>
            <a:r>
              <a:rPr lang="es-ES" dirty="0" err="1" smtClean="0"/>
              <a:t>Services</a:t>
            </a:r>
            <a:endParaRPr lang="es-ES" dirty="0" smtClean="0"/>
          </a:p>
          <a:p>
            <a:r>
              <a:rPr lang="es-ES" dirty="0" smtClean="0"/>
              <a:t>+</a:t>
            </a:r>
          </a:p>
          <a:p>
            <a:r>
              <a:rPr lang="es-ES" dirty="0" err="1" smtClean="0"/>
              <a:t>Hibernate</a:t>
            </a:r>
            <a:r>
              <a:rPr lang="es-ES" dirty="0" smtClean="0"/>
              <a:t>….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195736" y="1052736"/>
            <a:ext cx="4104456" cy="2736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2 CuadroTexto"/>
          <p:cNvSpPr txBox="1"/>
          <p:nvPr/>
        </p:nvSpPr>
        <p:spPr>
          <a:xfrm>
            <a:off x="3275856" y="47667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JDK</a:t>
            </a:r>
            <a:endParaRPr lang="es-ES" dirty="0"/>
          </a:p>
        </p:txBody>
      </p:sp>
      <p:sp>
        <p:nvSpPr>
          <p:cNvPr id="4" name="3 CuadroTexto"/>
          <p:cNvSpPr txBox="1"/>
          <p:nvPr/>
        </p:nvSpPr>
        <p:spPr>
          <a:xfrm>
            <a:off x="2771800" y="1556792"/>
            <a:ext cx="259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compilador</a:t>
            </a:r>
          </a:p>
          <a:p>
            <a:pPr algn="ctr"/>
            <a:r>
              <a:rPr lang="es-ES" dirty="0" smtClean="0"/>
              <a:t>+</a:t>
            </a:r>
          </a:p>
          <a:p>
            <a:pPr algn="ctr"/>
            <a:r>
              <a:rPr lang="es-ES" dirty="0" smtClean="0"/>
              <a:t>librerías java estándar</a:t>
            </a:r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971600" y="4581128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com.empresa.proyecto.capa</a:t>
            </a: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55576" y="1628800"/>
            <a:ext cx="6048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void</a:t>
            </a:r>
            <a:r>
              <a:rPr lang="es-ES" dirty="0" smtClean="0"/>
              <a:t> suma(</a:t>
            </a:r>
            <a:r>
              <a:rPr lang="es-ES" dirty="0" err="1" smtClean="0"/>
              <a:t>int</a:t>
            </a:r>
            <a:r>
              <a:rPr lang="es-ES" dirty="0" smtClean="0"/>
              <a:t> a){</a:t>
            </a:r>
          </a:p>
          <a:p>
            <a:r>
              <a:rPr lang="es-ES" dirty="0" smtClean="0"/>
              <a:t>	a=a+2;</a:t>
            </a:r>
          </a:p>
          <a:p>
            <a:r>
              <a:rPr lang="es-ES" dirty="0" smtClean="0"/>
              <a:t>}</a:t>
            </a:r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827584" y="364502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int</a:t>
            </a:r>
            <a:r>
              <a:rPr lang="es-ES" dirty="0" smtClean="0"/>
              <a:t> x=10;</a:t>
            </a:r>
          </a:p>
          <a:p>
            <a:r>
              <a:rPr lang="es-ES" dirty="0" smtClean="0"/>
              <a:t>suma(x);</a:t>
            </a:r>
          </a:p>
          <a:p>
            <a:r>
              <a:rPr lang="es-ES" dirty="0" err="1" smtClean="0"/>
              <a:t>System.out.println</a:t>
            </a:r>
            <a:r>
              <a:rPr lang="es-ES" dirty="0" smtClean="0"/>
              <a:t>(x); //10</a:t>
            </a:r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3491880" y="1700808"/>
            <a:ext cx="100811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3131840" y="1700808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4283968" y="4077072"/>
            <a:ext cx="100811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CuadroTexto"/>
          <p:cNvSpPr txBox="1"/>
          <p:nvPr/>
        </p:nvSpPr>
        <p:spPr>
          <a:xfrm>
            <a:off x="3923928" y="4077072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8" name="7 CuadroTexto"/>
          <p:cNvSpPr txBox="1"/>
          <p:nvPr/>
        </p:nvSpPr>
        <p:spPr>
          <a:xfrm>
            <a:off x="4427984" y="407707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10</a:t>
            </a:r>
            <a:endParaRPr lang="es-ES" dirty="0"/>
          </a:p>
        </p:txBody>
      </p:sp>
      <p:cxnSp>
        <p:nvCxnSpPr>
          <p:cNvPr id="10" name="9 Conector recto de flecha"/>
          <p:cNvCxnSpPr/>
          <p:nvPr/>
        </p:nvCxnSpPr>
        <p:spPr>
          <a:xfrm flipH="1" flipV="1">
            <a:off x="3923928" y="1916832"/>
            <a:ext cx="720080" cy="2304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3851920" y="16288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12</a:t>
            </a:r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55576" y="1628800"/>
            <a:ext cx="6048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void</a:t>
            </a:r>
            <a:r>
              <a:rPr lang="es-ES" dirty="0" smtClean="0"/>
              <a:t> suma(</a:t>
            </a:r>
            <a:r>
              <a:rPr lang="es-ES" dirty="0" err="1" smtClean="0"/>
              <a:t>int</a:t>
            </a:r>
            <a:r>
              <a:rPr lang="es-ES" dirty="0" smtClean="0"/>
              <a:t>[] a){</a:t>
            </a:r>
          </a:p>
          <a:p>
            <a:r>
              <a:rPr lang="es-ES" dirty="0" smtClean="0"/>
              <a:t>	a[0]=a[0]+2;</a:t>
            </a:r>
          </a:p>
          <a:p>
            <a:r>
              <a:rPr lang="es-ES" dirty="0" smtClean="0"/>
              <a:t>}</a:t>
            </a:r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827584" y="364502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int</a:t>
            </a:r>
            <a:r>
              <a:rPr lang="es-ES" dirty="0" smtClean="0"/>
              <a:t> [] x={10};</a:t>
            </a:r>
          </a:p>
          <a:p>
            <a:r>
              <a:rPr lang="es-ES" dirty="0" smtClean="0"/>
              <a:t>suma(x);</a:t>
            </a:r>
          </a:p>
          <a:p>
            <a:r>
              <a:rPr lang="es-ES" dirty="0" err="1" smtClean="0"/>
              <a:t>System.out.println</a:t>
            </a:r>
            <a:r>
              <a:rPr lang="es-ES" dirty="0" smtClean="0"/>
              <a:t>(x[0]); //12</a:t>
            </a:r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3491880" y="1700808"/>
            <a:ext cx="100811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3131840" y="1700808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4283968" y="4077072"/>
            <a:ext cx="100811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CuadroTexto"/>
          <p:cNvSpPr txBox="1"/>
          <p:nvPr/>
        </p:nvSpPr>
        <p:spPr>
          <a:xfrm>
            <a:off x="3923928" y="4077072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x</a:t>
            </a:r>
            <a:endParaRPr lang="es-ES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4788024" y="4221088"/>
            <a:ext cx="144016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Elipse"/>
          <p:cNvSpPr/>
          <p:nvPr/>
        </p:nvSpPr>
        <p:spPr>
          <a:xfrm>
            <a:off x="6300192" y="4581128"/>
            <a:ext cx="122413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Rectángulo"/>
          <p:cNvSpPr/>
          <p:nvPr/>
        </p:nvSpPr>
        <p:spPr>
          <a:xfrm>
            <a:off x="6516216" y="4725144"/>
            <a:ext cx="93610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16 Conector recto"/>
          <p:cNvCxnSpPr/>
          <p:nvPr/>
        </p:nvCxnSpPr>
        <p:spPr>
          <a:xfrm>
            <a:off x="6804248" y="4725144"/>
            <a:ext cx="72008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7164288" y="4725144"/>
            <a:ext cx="72008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 de flecha"/>
          <p:cNvCxnSpPr>
            <a:endCxn id="14" idx="1"/>
          </p:cNvCxnSpPr>
          <p:nvPr/>
        </p:nvCxnSpPr>
        <p:spPr>
          <a:xfrm>
            <a:off x="3923928" y="1844824"/>
            <a:ext cx="2555535" cy="28101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>
            <a:endCxn id="4" idx="2"/>
          </p:cNvCxnSpPr>
          <p:nvPr/>
        </p:nvCxnSpPr>
        <p:spPr>
          <a:xfrm flipH="1" flipV="1">
            <a:off x="3995936" y="1988840"/>
            <a:ext cx="648072" cy="2232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051720" y="1988840"/>
            <a:ext cx="3960440" cy="17281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" name="3 Conector recto"/>
          <p:cNvCxnSpPr>
            <a:stCxn id="2" idx="0"/>
            <a:endCxn id="2" idx="2"/>
          </p:cNvCxnSpPr>
          <p:nvPr/>
        </p:nvCxnSpPr>
        <p:spPr>
          <a:xfrm>
            <a:off x="4031940" y="1988840"/>
            <a:ext cx="0" cy="1728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4 CuadroTexto"/>
          <p:cNvSpPr txBox="1"/>
          <p:nvPr/>
        </p:nvSpPr>
        <p:spPr>
          <a:xfrm>
            <a:off x="4283968" y="249289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Capa lógica de negocio</a:t>
            </a:r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2267744" y="249289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Capa presentación</a:t>
            </a:r>
            <a:endParaRPr lang="es-ES" dirty="0"/>
          </a:p>
        </p:txBody>
      </p:sp>
      <p:sp>
        <p:nvSpPr>
          <p:cNvPr id="7" name="6 Flecha derecha"/>
          <p:cNvSpPr/>
          <p:nvPr/>
        </p:nvSpPr>
        <p:spPr>
          <a:xfrm>
            <a:off x="1331640" y="2636912"/>
            <a:ext cx="72008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CuadroTexto"/>
          <p:cNvSpPr txBox="1"/>
          <p:nvPr/>
        </p:nvSpPr>
        <p:spPr>
          <a:xfrm>
            <a:off x="179512" y="256490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usuario</a:t>
            </a:r>
            <a:endParaRPr lang="es-ES" dirty="0"/>
          </a:p>
        </p:txBody>
      </p:sp>
      <p:sp>
        <p:nvSpPr>
          <p:cNvPr id="9" name="8 Flecha derecha"/>
          <p:cNvSpPr/>
          <p:nvPr/>
        </p:nvSpPr>
        <p:spPr>
          <a:xfrm>
            <a:off x="6084168" y="2636912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Disco magnético"/>
          <p:cNvSpPr/>
          <p:nvPr/>
        </p:nvSpPr>
        <p:spPr>
          <a:xfrm>
            <a:off x="6876256" y="2492896"/>
            <a:ext cx="792088" cy="57606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Elipse"/>
          <p:cNvSpPr/>
          <p:nvPr/>
        </p:nvSpPr>
        <p:spPr>
          <a:xfrm>
            <a:off x="3635896" y="3861048"/>
            <a:ext cx="720080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CuadroTexto"/>
          <p:cNvSpPr txBox="1"/>
          <p:nvPr/>
        </p:nvSpPr>
        <p:spPr>
          <a:xfrm>
            <a:off x="4427984" y="393305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DTOs</a:t>
            </a: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483768" y="98072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JUNIT</a:t>
            </a:r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979712" y="620688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Acceso a bases de datos en Java</a:t>
            </a:r>
            <a:endParaRPr lang="es-ES" dirty="0"/>
          </a:p>
        </p:txBody>
      </p:sp>
      <p:sp>
        <p:nvSpPr>
          <p:cNvPr id="3" name="2 Rectángulo redondeado"/>
          <p:cNvSpPr/>
          <p:nvPr/>
        </p:nvSpPr>
        <p:spPr>
          <a:xfrm>
            <a:off x="971600" y="1700808"/>
            <a:ext cx="2520280" cy="93610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CuadroTexto"/>
          <p:cNvSpPr txBox="1"/>
          <p:nvPr/>
        </p:nvSpPr>
        <p:spPr>
          <a:xfrm>
            <a:off x="1547664" y="1916832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/>
              <a:t>JDBC</a:t>
            </a:r>
            <a:endParaRPr lang="es-ES" sz="2800" dirty="0"/>
          </a:p>
        </p:txBody>
      </p:sp>
      <p:cxnSp>
        <p:nvCxnSpPr>
          <p:cNvPr id="6" name="5 Conector recto de flecha"/>
          <p:cNvCxnSpPr/>
          <p:nvPr/>
        </p:nvCxnSpPr>
        <p:spPr>
          <a:xfrm>
            <a:off x="3635896" y="2204864"/>
            <a:ext cx="24482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/>
        </p:nvSpPr>
        <p:spPr>
          <a:xfrm>
            <a:off x="3923928" y="177281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acceso directo a tablas con SQL</a:t>
            </a:r>
            <a:endParaRPr lang="es-ES" dirty="0"/>
          </a:p>
        </p:txBody>
      </p:sp>
      <p:sp>
        <p:nvSpPr>
          <p:cNvPr id="8" name="7 Rectángulo redondeado"/>
          <p:cNvSpPr/>
          <p:nvPr/>
        </p:nvSpPr>
        <p:spPr>
          <a:xfrm>
            <a:off x="971600" y="3789040"/>
            <a:ext cx="2520280" cy="93610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CuadroTexto"/>
          <p:cNvSpPr txBox="1"/>
          <p:nvPr/>
        </p:nvSpPr>
        <p:spPr>
          <a:xfrm>
            <a:off x="1547664" y="400506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/>
              <a:t>JPA</a:t>
            </a:r>
            <a:endParaRPr lang="es-ES" sz="28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3635896" y="4293096"/>
            <a:ext cx="24482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3923928" y="3861048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acceso a través de capa de persistencia</a:t>
            </a:r>
            <a:endParaRPr lang="es-ES" dirty="0"/>
          </a:p>
        </p:txBody>
      </p:sp>
      <p:sp>
        <p:nvSpPr>
          <p:cNvPr id="12" name="11 CuadroTexto"/>
          <p:cNvSpPr txBox="1"/>
          <p:nvPr/>
        </p:nvSpPr>
        <p:spPr>
          <a:xfrm>
            <a:off x="4211960" y="458112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Framework de persistencia (</a:t>
            </a:r>
            <a:r>
              <a:rPr lang="es-ES" dirty="0" err="1" smtClean="0"/>
              <a:t>hibernate</a:t>
            </a:r>
            <a:r>
              <a:rPr lang="es-ES" dirty="0" smtClean="0"/>
              <a:t>)</a:t>
            </a:r>
            <a:endParaRPr lang="es-E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051720" y="404664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Stream</a:t>
            </a:r>
            <a:r>
              <a:rPr lang="es-ES" dirty="0" smtClean="0"/>
              <a:t> paralelos</a:t>
            </a:r>
            <a:endParaRPr lang="es-ES" dirty="0"/>
          </a:p>
        </p:txBody>
      </p:sp>
      <p:sp>
        <p:nvSpPr>
          <p:cNvPr id="3" name="2 Rectángulo"/>
          <p:cNvSpPr/>
          <p:nvPr/>
        </p:nvSpPr>
        <p:spPr>
          <a:xfrm>
            <a:off x="1259632" y="1844824"/>
            <a:ext cx="6336704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4 Conector recto"/>
          <p:cNvCxnSpPr/>
          <p:nvPr/>
        </p:nvCxnSpPr>
        <p:spPr>
          <a:xfrm>
            <a:off x="1691680" y="1844824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"/>
          <p:cNvCxnSpPr/>
          <p:nvPr/>
        </p:nvCxnSpPr>
        <p:spPr>
          <a:xfrm>
            <a:off x="2195736" y="1844824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2699792" y="1844824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3131840" y="1844824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3563888" y="1844824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3995936" y="213285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….</a:t>
            </a:r>
            <a:endParaRPr lang="es-ES" dirty="0"/>
          </a:p>
        </p:txBody>
      </p:sp>
      <p:sp>
        <p:nvSpPr>
          <p:cNvPr id="11" name="10 Elipse"/>
          <p:cNvSpPr/>
          <p:nvPr/>
        </p:nvSpPr>
        <p:spPr>
          <a:xfrm>
            <a:off x="683568" y="3717032"/>
            <a:ext cx="1008112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CuadroTexto"/>
          <p:cNvSpPr txBox="1"/>
          <p:nvPr/>
        </p:nvSpPr>
        <p:spPr>
          <a:xfrm>
            <a:off x="1835696" y="371703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st</a:t>
            </a:r>
            <a:endParaRPr lang="es-ES" dirty="0"/>
          </a:p>
        </p:txBody>
      </p:sp>
      <p:cxnSp>
        <p:nvCxnSpPr>
          <p:cNvPr id="14" name="13 Conector recto de flecha"/>
          <p:cNvCxnSpPr/>
          <p:nvPr/>
        </p:nvCxnSpPr>
        <p:spPr>
          <a:xfrm flipV="1">
            <a:off x="1187624" y="2564904"/>
            <a:ext cx="0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Abrir llave"/>
          <p:cNvSpPr/>
          <p:nvPr/>
        </p:nvSpPr>
        <p:spPr>
          <a:xfrm rot="16200000">
            <a:off x="1835696" y="2060848"/>
            <a:ext cx="216024" cy="13681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Abrir llave"/>
          <p:cNvSpPr/>
          <p:nvPr/>
        </p:nvSpPr>
        <p:spPr>
          <a:xfrm rot="16200000">
            <a:off x="3347864" y="2060848"/>
            <a:ext cx="216024" cy="13681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Abrir llave"/>
          <p:cNvSpPr/>
          <p:nvPr/>
        </p:nvSpPr>
        <p:spPr>
          <a:xfrm rot="16200000">
            <a:off x="4860032" y="2060848"/>
            <a:ext cx="216024" cy="13681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Abrir llave"/>
          <p:cNvSpPr/>
          <p:nvPr/>
        </p:nvSpPr>
        <p:spPr>
          <a:xfrm rot="16200000">
            <a:off x="6300192" y="2060848"/>
            <a:ext cx="216024" cy="13681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8 CuadroTexto"/>
          <p:cNvSpPr txBox="1"/>
          <p:nvPr/>
        </p:nvSpPr>
        <p:spPr>
          <a:xfrm>
            <a:off x="1835696" y="299695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h1</a:t>
            </a:r>
            <a:endParaRPr lang="es-ES" dirty="0"/>
          </a:p>
        </p:txBody>
      </p:sp>
      <p:sp>
        <p:nvSpPr>
          <p:cNvPr id="20" name="19 CuadroTexto"/>
          <p:cNvSpPr txBox="1"/>
          <p:nvPr/>
        </p:nvSpPr>
        <p:spPr>
          <a:xfrm>
            <a:off x="3203848" y="299695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h2</a:t>
            </a:r>
            <a:endParaRPr lang="es-ES" dirty="0"/>
          </a:p>
        </p:txBody>
      </p:sp>
      <p:sp>
        <p:nvSpPr>
          <p:cNvPr id="21" name="20 CuadroTexto"/>
          <p:cNvSpPr txBox="1"/>
          <p:nvPr/>
        </p:nvSpPr>
        <p:spPr>
          <a:xfrm>
            <a:off x="4716016" y="299695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h3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107</Words>
  <Application>Microsoft Office PowerPoint</Application>
  <PresentationFormat>Presentación en pantalla (4:3)</PresentationFormat>
  <Paragraphs>52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Antonio</dc:creator>
  <cp:lastModifiedBy>Antonio</cp:lastModifiedBy>
  <cp:revision>7</cp:revision>
  <dcterms:created xsi:type="dcterms:W3CDTF">2026-06-22T07:43:45Z</dcterms:created>
  <dcterms:modified xsi:type="dcterms:W3CDTF">2026-06-26T12:21:45Z</dcterms:modified>
</cp:coreProperties>
</file>